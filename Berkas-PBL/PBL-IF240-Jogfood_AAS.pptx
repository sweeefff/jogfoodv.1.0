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ora" charset="1" panose="000005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399" t="-10053" r="-5059" b="-1229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42944" y="1028700"/>
            <a:ext cx="13106725" cy="8210550"/>
            <a:chOff x="0" y="0"/>
            <a:chExt cx="3451977" cy="21624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51977" cy="2162449"/>
            </a:xfrm>
            <a:custGeom>
              <a:avLst/>
              <a:gdLst/>
              <a:ahLst/>
              <a:cxnLst/>
              <a:rect r="r" b="b" t="t" l="l"/>
              <a:pathLst>
                <a:path h="2162449" w="3451977">
                  <a:moveTo>
                    <a:pt x="0" y="0"/>
                  </a:moveTo>
                  <a:lnTo>
                    <a:pt x="3451977" y="0"/>
                  </a:lnTo>
                  <a:lnTo>
                    <a:pt x="3451977" y="2162449"/>
                  </a:lnTo>
                  <a:lnTo>
                    <a:pt x="0" y="2162449"/>
                  </a:lnTo>
                  <a:close/>
                </a:path>
              </a:pathLst>
            </a:custGeom>
            <a:solidFill>
              <a:srgbClr val="391903">
                <a:alpha val="7882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51977" cy="22005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259788" y="4222886"/>
            <a:ext cx="11301259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201475" y="0"/>
            <a:ext cx="3086525" cy="2743149"/>
          </a:xfrm>
          <a:custGeom>
            <a:avLst/>
            <a:gdLst/>
            <a:ahLst/>
            <a:cxnLst/>
            <a:rect r="r" b="b" t="t" l="l"/>
            <a:pathLst>
              <a:path h="2743149" w="3086525">
                <a:moveTo>
                  <a:pt x="0" y="0"/>
                </a:moveTo>
                <a:lnTo>
                  <a:pt x="3086525" y="0"/>
                </a:lnTo>
                <a:lnTo>
                  <a:pt x="3086525" y="2743149"/>
                </a:lnTo>
                <a:lnTo>
                  <a:pt x="0" y="2743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59788" y="1662466"/>
            <a:ext cx="11301259" cy="2161366"/>
          </a:xfrm>
          <a:custGeom>
            <a:avLst/>
            <a:gdLst/>
            <a:ahLst/>
            <a:cxnLst/>
            <a:rect r="r" b="b" t="t" l="l"/>
            <a:pathLst>
              <a:path h="2161366" w="11301259">
                <a:moveTo>
                  <a:pt x="0" y="0"/>
                </a:moveTo>
                <a:lnTo>
                  <a:pt x="11301259" y="0"/>
                </a:lnTo>
                <a:lnTo>
                  <a:pt x="11301259" y="2161366"/>
                </a:lnTo>
                <a:lnTo>
                  <a:pt x="0" y="2161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7695" y="4973258"/>
            <a:ext cx="4571990" cy="635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2"/>
              </a:lnSpc>
            </a:pPr>
            <a:r>
              <a:rPr lang="en-US" sz="5180">
                <a:solidFill>
                  <a:srgbClr val="E9CD39"/>
                </a:solidFill>
                <a:latin typeface="Lora"/>
                <a:ea typeface="Lora"/>
                <a:cs typeface="Lora"/>
                <a:sym typeface="Lora"/>
              </a:rPr>
              <a:t>PBL-IF240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2537" y="6494624"/>
            <a:ext cx="11526731" cy="212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web-based application that recommends traditional culinary delights and restaurants typical of Yogyakarta.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92697" y="0"/>
            <a:ext cx="14493026" cy="9935913"/>
          </a:xfrm>
          <a:custGeom>
            <a:avLst/>
            <a:gdLst/>
            <a:ahLst/>
            <a:cxnLst/>
            <a:rect r="r" b="b" t="t" l="l"/>
            <a:pathLst>
              <a:path h="9935913" w="14493026">
                <a:moveTo>
                  <a:pt x="0" y="0"/>
                </a:moveTo>
                <a:lnTo>
                  <a:pt x="14493027" y="0"/>
                </a:lnTo>
                <a:lnTo>
                  <a:pt x="14493027" y="9935913"/>
                </a:lnTo>
                <a:lnTo>
                  <a:pt x="0" y="99359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653" t="0" r="-3243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96577" y="1736281"/>
            <a:ext cx="7716722" cy="7141014"/>
            <a:chOff x="0" y="0"/>
            <a:chExt cx="2032388" cy="18807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32388" cy="1880761"/>
            </a:xfrm>
            <a:custGeom>
              <a:avLst/>
              <a:gdLst/>
              <a:ahLst/>
              <a:cxnLst/>
              <a:rect r="r" b="b" t="t" l="l"/>
              <a:pathLst>
                <a:path h="1880761" w="2032388">
                  <a:moveTo>
                    <a:pt x="0" y="0"/>
                  </a:moveTo>
                  <a:lnTo>
                    <a:pt x="2032388" y="0"/>
                  </a:lnTo>
                  <a:lnTo>
                    <a:pt x="2032388" y="1880761"/>
                  </a:lnTo>
                  <a:lnTo>
                    <a:pt x="0" y="1880761"/>
                  </a:lnTo>
                  <a:close/>
                </a:path>
              </a:pathLst>
            </a:custGeom>
            <a:solidFill>
              <a:srgbClr val="3919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32388" cy="19188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1500330" y="2306429"/>
            <a:ext cx="6789374" cy="803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65"/>
              </a:lnSpc>
            </a:pPr>
            <a:r>
              <a:rPr lang="en-US" b="true" sz="5100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TABLE OF CONTENTS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96577" y="3694844"/>
            <a:ext cx="6791423" cy="3481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01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Meet Our Team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JOGFOOD?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Comparison Table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Requiretments  JOGFOOD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 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Implementation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Testing</a:t>
            </a:r>
          </a:p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14648" y="603294"/>
            <a:ext cx="11586661" cy="8229600"/>
            <a:chOff x="0" y="0"/>
            <a:chExt cx="3051631" cy="2167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51631" cy="2167467"/>
            </a:xfrm>
            <a:custGeom>
              <a:avLst/>
              <a:gdLst/>
              <a:ahLst/>
              <a:cxnLst/>
              <a:rect r="r" b="b" t="t" l="l"/>
              <a:pathLst>
                <a:path h="2167467" w="3051631">
                  <a:moveTo>
                    <a:pt x="0" y="0"/>
                  </a:moveTo>
                  <a:lnTo>
                    <a:pt x="3051631" y="0"/>
                  </a:lnTo>
                  <a:lnTo>
                    <a:pt x="3051631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2F17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51631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494027" y="0"/>
            <a:ext cx="12116847" cy="10287000"/>
          </a:xfrm>
          <a:custGeom>
            <a:avLst/>
            <a:gdLst/>
            <a:ahLst/>
            <a:cxnLst/>
            <a:rect r="r" b="b" t="t" l="l"/>
            <a:pathLst>
              <a:path h="10287000" w="12116847">
                <a:moveTo>
                  <a:pt x="0" y="0"/>
                </a:moveTo>
                <a:lnTo>
                  <a:pt x="12116846" y="0"/>
                </a:lnTo>
                <a:lnTo>
                  <a:pt x="121168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157" t="-85664" r="-11903" b="-6574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65879" y="1009650"/>
            <a:ext cx="5806773" cy="814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46"/>
              </a:lnSpc>
            </a:pPr>
            <a:r>
              <a:rPr lang="en-US" b="true" sz="5257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Meet Our Team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50532" y="3701331"/>
            <a:ext cx="6122121" cy="381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40"/>
              </a:lnSpc>
            </a:pPr>
            <a:r>
              <a:rPr lang="en-US" b="true" sz="3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Leader : </a:t>
            </a:r>
            <a:r>
              <a:rPr lang="en-US" sz="3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Ridho Putrawan 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340"/>
              </a:lnSpc>
            </a:pPr>
            <a:r>
              <a:rPr lang="en-US" b="true" sz="3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Member : </a:t>
            </a:r>
            <a:r>
              <a:rPr lang="en-US" sz="3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Ruth Y. Manurung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340"/>
              </a:lnSpc>
            </a:pPr>
            <a:r>
              <a:rPr lang="en-US" b="true" sz="3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Member : </a:t>
            </a:r>
            <a:r>
              <a:rPr lang="en-US" sz="3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Josepine S. Hia</a:t>
            </a:r>
          </a:p>
          <a:p>
            <a:pPr algn="just">
              <a:lnSpc>
                <a:spcPts val="4340"/>
              </a:lnSpc>
            </a:pPr>
          </a:p>
          <a:p>
            <a:pPr algn="just">
              <a:lnSpc>
                <a:spcPts val="4340"/>
              </a:lnSpc>
            </a:pPr>
            <a:r>
              <a:rPr lang="en-US" b="true" sz="3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Member : </a:t>
            </a:r>
            <a:r>
              <a:rPr lang="en-US" sz="3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M. Rizky Raapi 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57304" y="-114300"/>
            <a:ext cx="630696" cy="71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50532" y="2772555"/>
            <a:ext cx="6437468" cy="50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Manpro  : </a:t>
            </a: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Yeni Rokhayati, S.SI., M.SC.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80712" y="0"/>
            <a:ext cx="9987655" cy="7267335"/>
          </a:xfrm>
          <a:custGeom>
            <a:avLst/>
            <a:gdLst/>
            <a:ahLst/>
            <a:cxnLst/>
            <a:rect r="r" b="b" t="t" l="l"/>
            <a:pathLst>
              <a:path h="7267335" w="9987655">
                <a:moveTo>
                  <a:pt x="0" y="0"/>
                </a:moveTo>
                <a:lnTo>
                  <a:pt x="9987655" y="0"/>
                </a:lnTo>
                <a:lnTo>
                  <a:pt x="9987655" y="7267335"/>
                </a:lnTo>
                <a:lnTo>
                  <a:pt x="0" y="72673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273" t="0" r="-2702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14300"/>
            <a:ext cx="630696" cy="70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b="true" sz="3899">
                <a:solidFill>
                  <a:srgbClr val="1E1B1A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586762"/>
            <a:ext cx="8980712" cy="2209678"/>
            <a:chOff x="0" y="0"/>
            <a:chExt cx="2365290" cy="5819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5291" cy="581973"/>
            </a:xfrm>
            <a:custGeom>
              <a:avLst/>
              <a:gdLst/>
              <a:ahLst/>
              <a:cxnLst/>
              <a:rect r="r" b="b" t="t" l="l"/>
              <a:pathLst>
                <a:path h="581973" w="2365291">
                  <a:moveTo>
                    <a:pt x="0" y="0"/>
                  </a:moveTo>
                  <a:lnTo>
                    <a:pt x="2365291" y="0"/>
                  </a:lnTo>
                  <a:lnTo>
                    <a:pt x="2365291" y="581973"/>
                  </a:lnTo>
                  <a:lnTo>
                    <a:pt x="0" y="581973"/>
                  </a:lnTo>
                  <a:close/>
                </a:path>
              </a:pathLst>
            </a:custGeom>
            <a:solidFill>
              <a:srgbClr val="391903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65290" cy="620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20190" y="439997"/>
            <a:ext cx="5590260" cy="2356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6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</a:t>
            </a:r>
            <a:r>
              <a:rPr lang="en-US" sz="6599" b="true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 JOGFOOD</a:t>
            </a:r>
            <a:r>
              <a:rPr lang="en-US" sz="65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190" y="3322319"/>
            <a:ext cx="8082414" cy="263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 Why Do We Need JOGFOOD ?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🔸 Most restaurant websites don’t show food recommendations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🔸 No online ordering or delivery services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🔸 Users need a fast and seamless way to discover and enjoy local cuisine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20190" y="6737716"/>
            <a:ext cx="8760522" cy="2824210"/>
            <a:chOff x="0" y="0"/>
            <a:chExt cx="11135092" cy="35897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35092" cy="3589722"/>
            </a:xfrm>
            <a:custGeom>
              <a:avLst/>
              <a:gdLst/>
              <a:ahLst/>
              <a:cxnLst/>
              <a:rect r="r" b="b" t="t" l="l"/>
              <a:pathLst>
                <a:path h="3589722" w="11135092">
                  <a:moveTo>
                    <a:pt x="0" y="0"/>
                  </a:moveTo>
                  <a:lnTo>
                    <a:pt x="11135092" y="0"/>
                  </a:lnTo>
                  <a:lnTo>
                    <a:pt x="11135092" y="3589722"/>
                  </a:lnTo>
                  <a:lnTo>
                    <a:pt x="0" y="35897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1135092" cy="36563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82"/>
                </a:lnSpc>
              </a:pPr>
              <a:r>
                <a:rPr lang="en-US" sz="2499" b="true">
                  <a:solidFill>
                    <a:srgbClr val="FFBD59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Makes JOGFOOD Different? </a:t>
              </a:r>
            </a:p>
            <a:p>
              <a:pPr algn="l">
                <a:lnSpc>
                  <a:spcPts val="3482"/>
                </a:lnSpc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✔ Personali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zed food recommendations — tailored to user ratings &amp; reviews</a:t>
              </a:r>
            </a:p>
            <a:p>
              <a:pPr algn="l">
                <a:lnSpc>
                  <a:spcPts val="3482"/>
                </a:lnSpc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✔ Online ordering with our own delivery service</a:t>
              </a:r>
            </a:p>
            <a:p>
              <a:pPr algn="l">
                <a:lnSpc>
                  <a:spcPts val="3482"/>
                </a:lnSpc>
              </a:pP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✔ Ideal for tourists &amp; locals to explore trusted local flavors instantly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-17441">
            <a:off x="1614592" y="3139384"/>
            <a:ext cx="375191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83971" y="0"/>
            <a:ext cx="2748995" cy="1959283"/>
          </a:xfrm>
          <a:custGeom>
            <a:avLst/>
            <a:gdLst/>
            <a:ahLst/>
            <a:cxnLst/>
            <a:rect r="r" b="b" t="t" l="l"/>
            <a:pathLst>
              <a:path h="1959283" w="2748995">
                <a:moveTo>
                  <a:pt x="0" y="0"/>
                </a:moveTo>
                <a:lnTo>
                  <a:pt x="2748995" y="0"/>
                </a:lnTo>
                <a:lnTo>
                  <a:pt x="2748995" y="1959283"/>
                </a:lnTo>
                <a:lnTo>
                  <a:pt x="0" y="1959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539005" y="7699509"/>
            <a:ext cx="2748995" cy="2587491"/>
          </a:xfrm>
          <a:custGeom>
            <a:avLst/>
            <a:gdLst/>
            <a:ahLst/>
            <a:cxnLst/>
            <a:rect r="r" b="b" t="t" l="l"/>
            <a:pathLst>
              <a:path h="2587491" w="2748995">
                <a:moveTo>
                  <a:pt x="0" y="0"/>
                </a:moveTo>
                <a:lnTo>
                  <a:pt x="2748995" y="0"/>
                </a:lnTo>
                <a:lnTo>
                  <a:pt x="2748995" y="2587491"/>
                </a:lnTo>
                <a:lnTo>
                  <a:pt x="0" y="2587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1539189"/>
            <a:ext cx="15007424" cy="8468551"/>
          </a:xfrm>
          <a:custGeom>
            <a:avLst/>
            <a:gdLst/>
            <a:ahLst/>
            <a:cxnLst/>
            <a:rect r="r" b="b" t="t" l="l"/>
            <a:pathLst>
              <a:path h="8468551" w="15007424">
                <a:moveTo>
                  <a:pt x="0" y="0"/>
                </a:moveTo>
                <a:lnTo>
                  <a:pt x="15007424" y="0"/>
                </a:lnTo>
                <a:lnTo>
                  <a:pt x="15007424" y="8468551"/>
                </a:lnTo>
                <a:lnTo>
                  <a:pt x="0" y="84685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97" r="-933" b="-220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2993" y="60586"/>
            <a:ext cx="12144935" cy="94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66"/>
              </a:lnSpc>
            </a:pPr>
            <a:r>
              <a:rPr lang="en-US" b="true" sz="6057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Comparison Table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57304" y="-114300"/>
            <a:ext cx="630696" cy="701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459"/>
              </a:lnSpc>
            </a:pPr>
            <a:r>
              <a:rPr lang="en-US" b="true" sz="3899">
                <a:solidFill>
                  <a:srgbClr val="1E1B1A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2328278"/>
            <a:ext cx="3046945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-142564" y="-478256"/>
            <a:ext cx="8436419" cy="2635083"/>
            <a:chOff x="0" y="0"/>
            <a:chExt cx="2221937" cy="694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21937" cy="694014"/>
            </a:xfrm>
            <a:custGeom>
              <a:avLst/>
              <a:gdLst/>
              <a:ahLst/>
              <a:cxnLst/>
              <a:rect r="r" b="b" t="t" l="l"/>
              <a:pathLst>
                <a:path h="694014" w="2221937">
                  <a:moveTo>
                    <a:pt x="0" y="0"/>
                  </a:moveTo>
                  <a:lnTo>
                    <a:pt x="2221937" y="0"/>
                  </a:lnTo>
                  <a:lnTo>
                    <a:pt x="2221937" y="694014"/>
                  </a:lnTo>
                  <a:lnTo>
                    <a:pt x="0" y="694014"/>
                  </a:lnTo>
                  <a:close/>
                </a:path>
              </a:pathLst>
            </a:custGeom>
            <a:solidFill>
              <a:srgbClr val="3919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221937" cy="7225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9935035" y="546757"/>
            <a:ext cx="10193678" cy="9740243"/>
          </a:xfrm>
          <a:custGeom>
            <a:avLst/>
            <a:gdLst/>
            <a:ahLst/>
            <a:cxnLst/>
            <a:rect r="r" b="b" t="t" l="l"/>
            <a:pathLst>
              <a:path h="9740243" w="10193678">
                <a:moveTo>
                  <a:pt x="0" y="0"/>
                </a:moveTo>
                <a:lnTo>
                  <a:pt x="10193679" y="0"/>
                </a:lnTo>
                <a:lnTo>
                  <a:pt x="10193679" y="9740243"/>
                </a:lnTo>
                <a:lnTo>
                  <a:pt x="0" y="9740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250" t="0" r="-3990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045" y="304165"/>
            <a:ext cx="7603644" cy="1527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816"/>
              </a:lnSpc>
            </a:pPr>
            <a:r>
              <a:rPr lang="en-US" b="true" sz="505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Requirements</a:t>
            </a:r>
            <a:r>
              <a:rPr lang="en-US" b="true" sz="5057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 Jogfood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045" y="2775953"/>
            <a:ext cx="10113664" cy="344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1"/>
              </a:lnSpc>
            </a:pPr>
            <a:r>
              <a:rPr lang="en-US" sz="3258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Functional Requirements</a:t>
            </a:r>
          </a:p>
          <a:p>
            <a:pPr algn="l">
              <a:lnSpc>
                <a:spcPts val="4561"/>
              </a:lnSpc>
            </a:pP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🍽️ Admin-controlled menu management</a:t>
            </a:r>
          </a:p>
          <a:p>
            <a:pPr algn="l">
              <a:lnSpc>
                <a:spcPts val="4561"/>
              </a:lnSpc>
            </a:pP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🔍 Search and discover culinary menus easily</a:t>
            </a:r>
          </a:p>
          <a:p>
            <a:pPr algn="l">
              <a:lnSpc>
                <a:spcPts val="4606"/>
              </a:lnSpc>
            </a:pP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💳 Order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&amp; P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ym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Proc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329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</a:p>
          <a:p>
            <a:pPr algn="l">
              <a:lnSpc>
                <a:spcPts val="4561"/>
              </a:lnSpc>
            </a:pP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🛵 C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urier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ry Sys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325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</a:p>
          <a:p>
            <a:pPr algn="l">
              <a:lnSpc>
                <a:spcPts val="456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5045" y="6293605"/>
            <a:ext cx="6783591" cy="2916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Non-Functional Requirements</a:t>
            </a:r>
          </a:p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b="true" sz="329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🔐</a:t>
            </a:r>
            <a:r>
              <a:rPr lang="en-US" sz="3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Security </a:t>
            </a:r>
          </a:p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sz="3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📱🖥️ Responsive UI</a:t>
            </a:r>
          </a:p>
          <a:p>
            <a:pPr algn="l">
              <a:lnSpc>
                <a:spcPts val="4607"/>
              </a:lnSpc>
              <a:spcBef>
                <a:spcPct val="0"/>
              </a:spcBef>
            </a:pPr>
            <a:r>
              <a:rPr lang="en-US" sz="329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💳 Payment Integration</a:t>
            </a:r>
          </a:p>
          <a:p>
            <a:pPr algn="l">
              <a:lnSpc>
                <a:spcPts val="4607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657304" y="-104775"/>
            <a:ext cx="630696" cy="65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39"/>
              </a:lnSpc>
            </a:pPr>
            <a:r>
              <a:rPr lang="en-US" b="true" sz="3599">
                <a:solidFill>
                  <a:srgbClr val="1E1B1A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3" y="530225"/>
            <a:ext cx="8946839" cy="9756775"/>
            <a:chOff x="0" y="0"/>
            <a:chExt cx="2356369" cy="2569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56369" cy="2569686"/>
            </a:xfrm>
            <a:custGeom>
              <a:avLst/>
              <a:gdLst/>
              <a:ahLst/>
              <a:cxnLst/>
              <a:rect r="r" b="b" t="t" l="l"/>
              <a:pathLst>
                <a:path h="2569686" w="2356369">
                  <a:moveTo>
                    <a:pt x="0" y="0"/>
                  </a:moveTo>
                  <a:lnTo>
                    <a:pt x="2356369" y="0"/>
                  </a:lnTo>
                  <a:lnTo>
                    <a:pt x="2356369" y="2569686"/>
                  </a:lnTo>
                  <a:lnTo>
                    <a:pt x="0" y="2569686"/>
                  </a:lnTo>
                  <a:close/>
                </a:path>
              </a:pathLst>
            </a:custGeom>
            <a:solidFill>
              <a:srgbClr val="2F17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356369" cy="2607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451199" y="1861680"/>
            <a:ext cx="6811444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494244" y="0"/>
            <a:ext cx="8793756" cy="8943013"/>
          </a:xfrm>
          <a:custGeom>
            <a:avLst/>
            <a:gdLst/>
            <a:ahLst/>
            <a:cxnLst/>
            <a:rect r="r" b="b" t="t" l="l"/>
            <a:pathLst>
              <a:path h="8943013" w="8793756">
                <a:moveTo>
                  <a:pt x="0" y="0"/>
                </a:moveTo>
                <a:lnTo>
                  <a:pt x="8793756" y="0"/>
                </a:lnTo>
                <a:lnTo>
                  <a:pt x="8793756" y="8943013"/>
                </a:lnTo>
                <a:lnTo>
                  <a:pt x="0" y="8943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031" t="0" r="-2207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263" y="-95250"/>
            <a:ext cx="630696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1E1B1A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1199" y="899265"/>
            <a:ext cx="7161558" cy="94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66"/>
              </a:lnSpc>
            </a:pPr>
            <a:r>
              <a:rPr lang="en-US" b="true" sz="6057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3484" y="2195055"/>
            <a:ext cx="8196056" cy="7310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Technology Stack</a:t>
            </a: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: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Backend: Laravel 12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Frontend: Laravel Blade + Tailwind CSS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Database: MySQL</a:t>
            </a:r>
          </a:p>
          <a:p>
            <a:pPr algn="l" marL="690872" indent="-345436" lvl="1">
              <a:lnSpc>
                <a:spcPts val="447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Gateway: Midtrans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Key UI Features</a:t>
            </a: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: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🍽️ </a:t>
            </a: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Dynamic food recommendations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🛵</a:t>
            </a: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order tracking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⭐ User ratings and review </a:t>
            </a:r>
          </a:p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 🧑‍💻 Admin dashboard for managing users, menus, and analytics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39681" y="78556"/>
            <a:ext cx="7618135" cy="1900288"/>
            <a:chOff x="0" y="0"/>
            <a:chExt cx="2006422" cy="5004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6422" cy="500487"/>
            </a:xfrm>
            <a:custGeom>
              <a:avLst/>
              <a:gdLst/>
              <a:ahLst/>
              <a:cxnLst/>
              <a:rect r="r" b="b" t="t" l="l"/>
              <a:pathLst>
                <a:path h="500487" w="2006422">
                  <a:moveTo>
                    <a:pt x="0" y="0"/>
                  </a:moveTo>
                  <a:lnTo>
                    <a:pt x="2006422" y="0"/>
                  </a:lnTo>
                  <a:lnTo>
                    <a:pt x="2006422" y="500487"/>
                  </a:lnTo>
                  <a:lnTo>
                    <a:pt x="0" y="500487"/>
                  </a:lnTo>
                  <a:close/>
                </a:path>
              </a:pathLst>
            </a:custGeom>
            <a:solidFill>
              <a:srgbClr val="391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06422" cy="5385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38386" y="2401558"/>
            <a:ext cx="5485909" cy="2842698"/>
          </a:xfrm>
          <a:custGeom>
            <a:avLst/>
            <a:gdLst/>
            <a:ahLst/>
            <a:cxnLst/>
            <a:rect r="r" b="b" t="t" l="l"/>
            <a:pathLst>
              <a:path h="2842698" w="5485909">
                <a:moveTo>
                  <a:pt x="0" y="0"/>
                </a:moveTo>
                <a:lnTo>
                  <a:pt x="5485908" y="0"/>
                </a:lnTo>
                <a:lnTo>
                  <a:pt x="5485908" y="2842698"/>
                </a:lnTo>
                <a:lnTo>
                  <a:pt x="0" y="28426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15443" y="2466781"/>
            <a:ext cx="5234172" cy="2712253"/>
          </a:xfrm>
          <a:custGeom>
            <a:avLst/>
            <a:gdLst/>
            <a:ahLst/>
            <a:cxnLst/>
            <a:rect r="r" b="b" t="t" l="l"/>
            <a:pathLst>
              <a:path h="2712253" w="5234172">
                <a:moveTo>
                  <a:pt x="0" y="0"/>
                </a:moveTo>
                <a:lnTo>
                  <a:pt x="5234171" y="0"/>
                </a:lnTo>
                <a:lnTo>
                  <a:pt x="5234171" y="2712252"/>
                </a:lnTo>
                <a:lnTo>
                  <a:pt x="0" y="2712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14450" y="2949182"/>
            <a:ext cx="5710837" cy="2959252"/>
          </a:xfrm>
          <a:custGeom>
            <a:avLst/>
            <a:gdLst/>
            <a:ahLst/>
            <a:cxnLst/>
            <a:rect r="r" b="b" t="t" l="l"/>
            <a:pathLst>
              <a:path h="2959252" w="5710837">
                <a:moveTo>
                  <a:pt x="0" y="0"/>
                </a:moveTo>
                <a:lnTo>
                  <a:pt x="5710837" y="0"/>
                </a:lnTo>
                <a:lnTo>
                  <a:pt x="5710837" y="2959251"/>
                </a:lnTo>
                <a:lnTo>
                  <a:pt x="0" y="2959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042389" y="6182707"/>
            <a:ext cx="8012720" cy="4152046"/>
          </a:xfrm>
          <a:custGeom>
            <a:avLst/>
            <a:gdLst/>
            <a:ahLst/>
            <a:cxnLst/>
            <a:rect r="r" b="b" t="t" l="l"/>
            <a:pathLst>
              <a:path h="4152046" w="8012720">
                <a:moveTo>
                  <a:pt x="0" y="0"/>
                </a:moveTo>
                <a:lnTo>
                  <a:pt x="8012720" y="0"/>
                </a:lnTo>
                <a:lnTo>
                  <a:pt x="8012720" y="4152046"/>
                </a:lnTo>
                <a:lnTo>
                  <a:pt x="0" y="4152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6604160"/>
            <a:ext cx="3836291" cy="3682840"/>
          </a:xfrm>
          <a:custGeom>
            <a:avLst/>
            <a:gdLst/>
            <a:ahLst/>
            <a:cxnLst/>
            <a:rect r="r" b="b" t="t" l="l"/>
            <a:pathLst>
              <a:path h="3682840" w="3836291">
                <a:moveTo>
                  <a:pt x="0" y="0"/>
                </a:moveTo>
                <a:lnTo>
                  <a:pt x="3836291" y="0"/>
                </a:lnTo>
                <a:lnTo>
                  <a:pt x="3836291" y="3682840"/>
                </a:lnTo>
                <a:lnTo>
                  <a:pt x="0" y="3682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44376" y="7663604"/>
            <a:ext cx="5131337" cy="2623396"/>
          </a:xfrm>
          <a:custGeom>
            <a:avLst/>
            <a:gdLst/>
            <a:ahLst/>
            <a:cxnLst/>
            <a:rect r="r" b="b" t="t" l="l"/>
            <a:pathLst>
              <a:path h="2623396" w="5131337">
                <a:moveTo>
                  <a:pt x="0" y="0"/>
                </a:moveTo>
                <a:lnTo>
                  <a:pt x="5131337" y="0"/>
                </a:lnTo>
                <a:lnTo>
                  <a:pt x="5131337" y="2623396"/>
                </a:lnTo>
                <a:lnTo>
                  <a:pt x="0" y="26233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319942" y="542730"/>
            <a:ext cx="3648115" cy="943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966"/>
              </a:lnSpc>
            </a:pPr>
            <a:r>
              <a:rPr lang="en-US" b="true" sz="6057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9297" y="2820689"/>
            <a:ext cx="5024085" cy="1899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11"/>
              </a:lnSpc>
            </a:pPr>
            <a:r>
              <a:rPr lang="en-US" sz="357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Testing Methodology</a:t>
            </a:r>
          </a:p>
          <a:p>
            <a:pPr algn="just" marL="772920" indent="-386460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Blackbox testing</a:t>
            </a:r>
          </a:p>
          <a:p>
            <a:pPr algn="just" marL="772920" indent="-386460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Testing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00864" y="2820689"/>
            <a:ext cx="3569610" cy="252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11"/>
              </a:lnSpc>
              <a:spcBef>
                <a:spcPct val="0"/>
              </a:spcBef>
            </a:pPr>
            <a:r>
              <a:rPr lang="en-US" b="true" sz="35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</a:t>
            </a:r>
          </a:p>
          <a:p>
            <a:pPr algn="just" marL="772921" indent="-386461" lvl="1">
              <a:lnSpc>
                <a:spcPts val="5011"/>
              </a:lnSpc>
              <a:spcBef>
                <a:spcPct val="0"/>
              </a:spcBef>
              <a:buFont typeface="Arial"/>
              <a:buChar char="•"/>
            </a:pPr>
            <a:r>
              <a:rPr lang="en-US" sz="3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Chrome</a:t>
            </a:r>
          </a:p>
          <a:p>
            <a:pPr algn="just" marL="772921" indent="-386461" lvl="1">
              <a:lnSpc>
                <a:spcPts val="5011"/>
              </a:lnSpc>
              <a:buFont typeface="Arial"/>
              <a:buChar char="•"/>
            </a:pPr>
            <a:r>
              <a:rPr lang="en-US" sz="35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Edge</a:t>
            </a:r>
          </a:p>
          <a:p>
            <a:pPr algn="just">
              <a:lnSpc>
                <a:spcPts val="5011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747700" y="3259430"/>
            <a:ext cx="5044336" cy="2253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b="true" sz="318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50+ test cases executed</a:t>
            </a:r>
          </a:p>
          <a:p>
            <a:pPr algn="ctr">
              <a:lnSpc>
                <a:spcPts val="4452"/>
              </a:lnSpc>
              <a:spcBef>
                <a:spcPct val="0"/>
              </a:spcBef>
            </a:pPr>
            <a:r>
              <a:rPr lang="en-US" sz="31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100% of major use cases passed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34932" y="6537485"/>
            <a:ext cx="7618135" cy="3375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sz="248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Examples</a:t>
            </a:r>
          </a:p>
          <a:p>
            <a:pPr algn="l" marL="535436" indent="-267718" lvl="1">
              <a:lnSpc>
                <a:spcPts val="3472"/>
              </a:lnSpc>
              <a:buFont typeface="Arial"/>
              <a:buChar char="•"/>
            </a:pPr>
            <a:r>
              <a:rPr lang="en-US" sz="24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menu (TC001) – Passed</a:t>
            </a:r>
          </a:p>
          <a:p>
            <a:pPr algn="l" marL="535436" indent="-267718" lvl="1">
              <a:lnSpc>
                <a:spcPts val="3472"/>
              </a:lnSpc>
              <a:buFont typeface="Arial"/>
              <a:buChar char="•"/>
            </a:pPr>
            <a:r>
              <a:rPr lang="en-US" sz="24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Checkout (TC027) – Passed</a:t>
            </a:r>
          </a:p>
          <a:p>
            <a:pPr algn="l" marL="535436" indent="-267718" lvl="1">
              <a:lnSpc>
                <a:spcPts val="3472"/>
              </a:lnSpc>
              <a:buFont typeface="Arial"/>
              <a:buChar char="•"/>
            </a:pPr>
            <a:r>
              <a:rPr lang="en-US" sz="24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Payment failure (TC044) – Handled</a:t>
            </a:r>
          </a:p>
          <a:p>
            <a:pPr algn="l" marL="535436" indent="-267718" lvl="1">
              <a:lnSpc>
                <a:spcPts val="3472"/>
              </a:lnSpc>
              <a:buFont typeface="Arial"/>
              <a:buChar char="•"/>
            </a:pPr>
            <a:r>
              <a:rPr lang="en-US" sz="24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Submit rating (TC049) – Passed</a:t>
            </a:r>
          </a:p>
          <a:p>
            <a:pPr algn="l">
              <a:lnSpc>
                <a:spcPts val="3472"/>
              </a:lnSpc>
            </a:pPr>
            <a:r>
              <a:rPr lang="en-US" sz="24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🧪 System is stable, functi</a:t>
            </a:r>
            <a:r>
              <a:rPr lang="en-US" sz="248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onal, and ready for deployment.</a:t>
            </a:r>
          </a:p>
          <a:p>
            <a:pPr algn="l">
              <a:lnSpc>
                <a:spcPts val="2352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-263" y="-95250"/>
            <a:ext cx="630696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1E1B1A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6782"/>
            <a:ext cx="8891951" cy="7298452"/>
          </a:xfrm>
          <a:custGeom>
            <a:avLst/>
            <a:gdLst/>
            <a:ahLst/>
            <a:cxnLst/>
            <a:rect r="r" b="b" t="t" l="l"/>
            <a:pathLst>
              <a:path h="7298452" w="8891951">
                <a:moveTo>
                  <a:pt x="0" y="0"/>
                </a:moveTo>
                <a:lnTo>
                  <a:pt x="8891951" y="0"/>
                </a:lnTo>
                <a:lnTo>
                  <a:pt x="8891951" y="7298452"/>
                </a:lnTo>
                <a:lnTo>
                  <a:pt x="0" y="7298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876" t="0" r="-3223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891951" y="12490"/>
            <a:ext cx="8574851" cy="1709785"/>
            <a:chOff x="0" y="0"/>
            <a:chExt cx="2258397" cy="4503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8397" cy="450314"/>
            </a:xfrm>
            <a:custGeom>
              <a:avLst/>
              <a:gdLst/>
              <a:ahLst/>
              <a:cxnLst/>
              <a:rect r="r" b="b" t="t" l="l"/>
              <a:pathLst>
                <a:path h="450314" w="2258397">
                  <a:moveTo>
                    <a:pt x="0" y="0"/>
                  </a:moveTo>
                  <a:lnTo>
                    <a:pt x="2258397" y="0"/>
                  </a:lnTo>
                  <a:lnTo>
                    <a:pt x="2258397" y="450314"/>
                  </a:lnTo>
                  <a:lnTo>
                    <a:pt x="0" y="450314"/>
                  </a:lnTo>
                  <a:close/>
                </a:path>
              </a:pathLst>
            </a:custGeom>
            <a:solidFill>
              <a:srgbClr val="3919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58397" cy="488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7554316"/>
            <a:ext cx="2749870" cy="2732684"/>
          </a:xfrm>
          <a:custGeom>
            <a:avLst/>
            <a:gdLst/>
            <a:ahLst/>
            <a:cxnLst/>
            <a:rect r="r" b="b" t="t" l="l"/>
            <a:pathLst>
              <a:path h="2732684" w="2749870">
                <a:moveTo>
                  <a:pt x="0" y="0"/>
                </a:moveTo>
                <a:lnTo>
                  <a:pt x="2749870" y="0"/>
                </a:lnTo>
                <a:lnTo>
                  <a:pt x="2749870" y="2732684"/>
                </a:lnTo>
                <a:lnTo>
                  <a:pt x="0" y="2732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545748" y="263794"/>
            <a:ext cx="5267256" cy="1111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116"/>
              </a:lnSpc>
            </a:pPr>
            <a:r>
              <a:rPr lang="en-US" b="true" sz="7057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657304" y="-58468"/>
            <a:ext cx="630696" cy="62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99"/>
              </a:lnSpc>
            </a:pPr>
            <a:r>
              <a:rPr lang="en-US" b="true" sz="3499">
                <a:solidFill>
                  <a:srgbClr val="1E1B1A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59348" y="1924442"/>
            <a:ext cx="8513304" cy="3993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🔸 Easy access to authentic Jogja food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🔸 Stronger digital visibility for local restaurants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🔸 All-in-one platform for browsing, reviews, and delivery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459348" y="6306815"/>
            <a:ext cx="8197957" cy="248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🛠️</a:t>
            </a:r>
            <a:r>
              <a:rPr lang="en-US" b="true" sz="2999">
                <a:solidFill>
                  <a:srgbClr val="FFBD59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Suggestions:</a:t>
            </a:r>
          </a:p>
          <a:p>
            <a:pPr algn="l">
              <a:lnSpc>
                <a:spcPts val="3449"/>
              </a:lnSpc>
              <a:spcBef>
                <a:spcPct val="0"/>
              </a:spcBef>
            </a:pPr>
          </a:p>
          <a:p>
            <a:pPr algn="l" marL="604519" indent="-302260" lvl="1">
              <a:lnSpc>
                <a:spcPts val="32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AI-based food recommendations</a:t>
            </a:r>
          </a:p>
          <a:p>
            <a:pPr algn="l" marL="604519" indent="-302260" lvl="1">
              <a:lnSpc>
                <a:spcPts val="32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Support multi-language interface</a:t>
            </a:r>
          </a:p>
          <a:p>
            <a:pPr algn="l" marL="604519" indent="-302260" lvl="1">
              <a:lnSpc>
                <a:spcPts val="32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real-time courier tracking</a:t>
            </a:r>
          </a:p>
          <a:p>
            <a:pPr algn="l">
              <a:lnSpc>
                <a:spcPts val="321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2130286"/>
            <a:ext cx="18288000" cy="5991890"/>
            <a:chOff x="0" y="0"/>
            <a:chExt cx="4816593" cy="15781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1578111"/>
            </a:xfrm>
            <a:custGeom>
              <a:avLst/>
              <a:gdLst/>
              <a:ahLst/>
              <a:cxnLst/>
              <a:rect r="r" b="b" t="t" l="l"/>
              <a:pathLst>
                <a:path h="157811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78111"/>
                  </a:lnTo>
                  <a:lnTo>
                    <a:pt x="0" y="1578111"/>
                  </a:lnTo>
                  <a:close/>
                </a:path>
              </a:pathLst>
            </a:custGeom>
            <a:solidFill>
              <a:srgbClr val="391903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1616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616309" y="2494023"/>
            <a:ext cx="2671691" cy="5264417"/>
          </a:xfrm>
          <a:custGeom>
            <a:avLst/>
            <a:gdLst/>
            <a:ahLst/>
            <a:cxnLst/>
            <a:rect r="r" b="b" t="t" l="l"/>
            <a:pathLst>
              <a:path h="5264417" w="2671691">
                <a:moveTo>
                  <a:pt x="0" y="0"/>
                </a:moveTo>
                <a:lnTo>
                  <a:pt x="2671691" y="0"/>
                </a:lnTo>
                <a:lnTo>
                  <a:pt x="2671691" y="5264417"/>
                </a:lnTo>
                <a:lnTo>
                  <a:pt x="0" y="5264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7985" y="2494023"/>
            <a:ext cx="2671691" cy="5264417"/>
          </a:xfrm>
          <a:custGeom>
            <a:avLst/>
            <a:gdLst/>
            <a:ahLst/>
            <a:cxnLst/>
            <a:rect r="r" b="b" t="t" l="l"/>
            <a:pathLst>
              <a:path h="5264417" w="2671691">
                <a:moveTo>
                  <a:pt x="0" y="0"/>
                </a:moveTo>
                <a:lnTo>
                  <a:pt x="2671692" y="0"/>
                </a:lnTo>
                <a:lnTo>
                  <a:pt x="2671692" y="5264417"/>
                </a:lnTo>
                <a:lnTo>
                  <a:pt x="0" y="52644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056407" y="3027982"/>
            <a:ext cx="8011772" cy="285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11"/>
              </a:lnSpc>
            </a:pPr>
            <a:r>
              <a:rPr lang="en-US" b="true" sz="635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for exploring JOGFOOD with us!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8005" y="6512050"/>
            <a:ext cx="4571990" cy="528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42"/>
              </a:lnSpc>
            </a:pPr>
            <a:r>
              <a:rPr lang="en-US" sz="4380">
                <a:solidFill>
                  <a:srgbClr val="E9CD39"/>
                </a:solidFill>
                <a:latin typeface="Lora"/>
                <a:ea typeface="Lora"/>
                <a:cs typeface="Lora"/>
                <a:sym typeface="Lora"/>
              </a:rPr>
              <a:t>PBL-IF240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557679"/>
            <a:ext cx="6030641" cy="2635083"/>
            <a:chOff x="0" y="0"/>
            <a:chExt cx="1588317" cy="6940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8317" cy="694014"/>
            </a:xfrm>
            <a:custGeom>
              <a:avLst/>
              <a:gdLst/>
              <a:ahLst/>
              <a:cxnLst/>
              <a:rect r="r" b="b" t="t" l="l"/>
              <a:pathLst>
                <a:path h="694014" w="1588317">
                  <a:moveTo>
                    <a:pt x="0" y="0"/>
                  </a:moveTo>
                  <a:lnTo>
                    <a:pt x="1588317" y="0"/>
                  </a:lnTo>
                  <a:lnTo>
                    <a:pt x="1588317" y="694014"/>
                  </a:lnTo>
                  <a:lnTo>
                    <a:pt x="0" y="694014"/>
                  </a:lnTo>
                  <a:close/>
                </a:path>
              </a:pathLst>
            </a:custGeom>
            <a:solidFill>
              <a:srgbClr val="39190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88317" cy="73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6810" y="636038"/>
            <a:ext cx="5557021" cy="800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71"/>
              </a:lnSpc>
              <a:spcBef>
                <a:spcPct val="0"/>
              </a:spcBef>
            </a:pPr>
            <a:r>
              <a:rPr lang="en-US" b="true" sz="447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DIAGRAM</a:t>
            </a:r>
            <a:r>
              <a:rPr lang="en-US" b="true" sz="447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4479">
                <a:solidFill>
                  <a:srgbClr val="FEC045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7355048" y="0"/>
            <a:ext cx="10932952" cy="10287000"/>
          </a:xfrm>
          <a:custGeom>
            <a:avLst/>
            <a:gdLst/>
            <a:ahLst/>
            <a:cxnLst/>
            <a:rect r="r" b="b" t="t" l="l"/>
            <a:pathLst>
              <a:path h="10287000" w="10932952">
                <a:moveTo>
                  <a:pt x="0" y="0"/>
                </a:moveTo>
                <a:lnTo>
                  <a:pt x="10932952" y="0"/>
                </a:lnTo>
                <a:lnTo>
                  <a:pt x="109329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9" r="-711" b="-93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810" y="3310005"/>
            <a:ext cx="6751228" cy="6168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2"/>
              </a:lnSpc>
            </a:pPr>
            <a:r>
              <a:rPr lang="en-US" sz="3179" b="true">
                <a:solidFill>
                  <a:srgbClr val="FEC045"/>
                </a:solidFill>
                <a:latin typeface="Poppins Bold"/>
                <a:ea typeface="Poppins Bold"/>
                <a:cs typeface="Poppins Bold"/>
                <a:sym typeface="Poppins Bold"/>
              </a:rPr>
              <a:t>Usecase Overview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Shows how Admin, User, and Courier interact with the system:</a:t>
            </a:r>
          </a:p>
          <a:p>
            <a:pPr algn="l">
              <a:lnSpc>
                <a:spcPts val="4312"/>
              </a:lnSpc>
              <a:spcBef>
                <a:spcPct val="0"/>
              </a:spcBef>
            </a:pP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 Admin manages data &amp; orders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 Users register, order, and pay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✅ Couriers deliver &amp; update status</a:t>
            </a:r>
          </a:p>
          <a:p>
            <a:pPr algn="l">
              <a:lnSpc>
                <a:spcPts val="4452"/>
              </a:lnSpc>
              <a:spcBef>
                <a:spcPct val="0"/>
              </a:spcBef>
            </a:pPr>
            <a:r>
              <a:rPr lang="en-US" sz="31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🔄Covers key flows : payment, tracking, and notification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300088" y="2077405"/>
            <a:ext cx="1461105" cy="1626736"/>
          </a:xfrm>
          <a:custGeom>
            <a:avLst/>
            <a:gdLst/>
            <a:ahLst/>
            <a:cxnLst/>
            <a:rect r="r" b="b" t="t" l="l"/>
            <a:pathLst>
              <a:path h="1626736" w="1461105">
                <a:moveTo>
                  <a:pt x="0" y="0"/>
                </a:moveTo>
                <a:lnTo>
                  <a:pt x="1461105" y="0"/>
                </a:lnTo>
                <a:lnTo>
                  <a:pt x="1461105" y="1626736"/>
                </a:lnTo>
                <a:lnTo>
                  <a:pt x="0" y="16267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577855" cy="8215778"/>
          </a:xfrm>
          <a:custGeom>
            <a:avLst/>
            <a:gdLst/>
            <a:ahLst/>
            <a:cxnLst/>
            <a:rect r="r" b="b" t="t" l="l"/>
            <a:pathLst>
              <a:path h="8215778" w="14577855">
                <a:moveTo>
                  <a:pt x="0" y="0"/>
                </a:moveTo>
                <a:lnTo>
                  <a:pt x="14577855" y="0"/>
                </a:lnTo>
                <a:lnTo>
                  <a:pt x="14577855" y="8215778"/>
                </a:lnTo>
                <a:lnTo>
                  <a:pt x="0" y="82157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50" t="-2078" r="-170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243980" y="-288842"/>
            <a:ext cx="6030641" cy="2635083"/>
            <a:chOff x="0" y="0"/>
            <a:chExt cx="1588317" cy="6940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8317" cy="694014"/>
            </a:xfrm>
            <a:custGeom>
              <a:avLst/>
              <a:gdLst/>
              <a:ahLst/>
              <a:cxnLst/>
              <a:rect r="r" b="b" t="t" l="l"/>
              <a:pathLst>
                <a:path h="694014" w="1588317">
                  <a:moveTo>
                    <a:pt x="0" y="0"/>
                  </a:moveTo>
                  <a:lnTo>
                    <a:pt x="1588317" y="0"/>
                  </a:lnTo>
                  <a:lnTo>
                    <a:pt x="1588317" y="694014"/>
                  </a:lnTo>
                  <a:lnTo>
                    <a:pt x="0" y="694014"/>
                  </a:lnTo>
                  <a:close/>
                </a:path>
              </a:pathLst>
            </a:custGeom>
            <a:solidFill>
              <a:srgbClr val="391903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88317" cy="7321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4578950" y="558228"/>
            <a:ext cx="3452372" cy="817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11"/>
              </a:lnSpc>
              <a:spcBef>
                <a:spcPct val="0"/>
              </a:spcBef>
            </a:pPr>
            <a:r>
              <a:rPr lang="en-US" sz="4579">
                <a:solidFill>
                  <a:srgbClr val="FEC045"/>
                </a:solidFill>
                <a:latin typeface="Poppins"/>
                <a:ea typeface="Poppins"/>
                <a:cs typeface="Poppins"/>
                <a:sym typeface="Poppins"/>
              </a:rPr>
              <a:t>ER DIAGRAM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1005" y="8387745"/>
            <a:ext cx="15244074" cy="1645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  <a:spcBef>
                <a:spcPct val="0"/>
              </a:spcBef>
            </a:pPr>
            <a:r>
              <a:rPr lang="en-US" b="true" sz="3080">
                <a:solidFill>
                  <a:srgbClr val="FEC045"/>
                </a:solidFill>
                <a:latin typeface="Poppins Bold"/>
                <a:ea typeface="Poppins Bold"/>
                <a:cs typeface="Poppins Bold"/>
                <a:sym typeface="Poppins Bold"/>
              </a:rPr>
              <a:t>Shows how users interact with menus, make transactions, and track orders.</a:t>
            </a:r>
          </a:p>
          <a:p>
            <a:pPr algn="l">
              <a:lnSpc>
                <a:spcPts val="4312"/>
              </a:lnSpc>
              <a:spcBef>
                <a:spcPct val="0"/>
              </a:spcBef>
            </a:pPr>
            <a:r>
              <a:rPr lang="en-US" b="true" sz="3080">
                <a:solidFill>
                  <a:srgbClr val="FEC045"/>
                </a:solidFill>
                <a:latin typeface="Poppins Bold"/>
                <a:ea typeface="Poppins Bold"/>
                <a:cs typeface="Poppins Bold"/>
                <a:sym typeface="Poppins Bold"/>
              </a:rPr>
              <a:t>Each menu can be reviewed, ordered, and paid.</a:t>
            </a:r>
          </a:p>
          <a:p>
            <a:pPr algn="l">
              <a:lnSpc>
                <a:spcPts val="4312"/>
              </a:lnSpc>
              <a:spcBef>
                <a:spcPct val="0"/>
              </a:spcBef>
            </a:pPr>
            <a:r>
              <a:rPr lang="en-US" b="true" sz="3080">
                <a:solidFill>
                  <a:srgbClr val="FEC045"/>
                </a:solidFill>
                <a:latin typeface="Poppins Bold"/>
                <a:ea typeface="Poppins Bold"/>
                <a:cs typeface="Poppins Bold"/>
                <a:sym typeface="Poppins Bold"/>
              </a:rPr>
              <a:t>Designed for smooth ordering, payment, and delivery flow.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774460" y="2346242"/>
            <a:ext cx="2158264" cy="1467620"/>
          </a:xfrm>
          <a:custGeom>
            <a:avLst/>
            <a:gdLst/>
            <a:ahLst/>
            <a:cxnLst/>
            <a:rect r="r" b="b" t="t" l="l"/>
            <a:pathLst>
              <a:path h="1467620" w="2158264">
                <a:moveTo>
                  <a:pt x="0" y="0"/>
                </a:moveTo>
                <a:lnTo>
                  <a:pt x="2158264" y="0"/>
                </a:lnTo>
                <a:lnTo>
                  <a:pt x="2158264" y="1467619"/>
                </a:lnTo>
                <a:lnTo>
                  <a:pt x="0" y="14676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DAGtZYmFw9c</dc:identifier>
  <dcterms:modified xsi:type="dcterms:W3CDTF">2011-08-01T06:04:30Z</dcterms:modified>
  <cp:revision>1</cp:revision>
  <dc:title>Brown Minimalist Modern Business Culinary Presentation</dc:title>
</cp:coreProperties>
</file>